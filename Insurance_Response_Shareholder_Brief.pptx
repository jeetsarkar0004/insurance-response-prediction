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6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7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Overview" id="{bd07738d-9842-b2d0-437e-d7ee3525ebff}">
          <p14:sldIdLst>
            <p14:sldId id="256"/>
            <p14:sldId id="257"/>
          </p14:sldIdLst>
        </p14:section>
        <p14:section name="Insights" id="{0cd3caf1-7b48-c3be-21c4-cc65ad636886}">
          <p14:sldIdLst>
            <p14:sldId id="258"/>
            <p14:sldId id="259"/>
            <p14:sldId id="260"/>
            <p14:sldId id="261"/>
          </p14:sldIdLst>
        </p14:section>
        <p14:section name="Model" id="{07d474fa-5c8b-fe13-0af0-f879bb4d3f68}">
          <p14:sldIdLst>
            <p14:sldId id="262"/>
            <p14:sldId id="263"/>
            <p14:sldId id="264"/>
          </p14:sldIdLst>
        </p14:section>
        <p14:section name="Action" id="{e092ce66-5d45-d369-81a3-9fd7e5b8a08b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5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7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3C49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0B3C49"/>
                </a:solidFill>
                <a:latin typeface="+mj-lt"/>
              </a:rPr>
              <a:t>Response to the vehicle-insurance offer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Response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F2A541"/>
              </a:solidFill>
              <a:effectLst/>
            </c:spPr>
          </c:dPt>
          <c:dPt>
            <c:idx val="1"/>
            <c:bubble3D val="0"/>
            <c:spPr>
              <a:solidFill>
                <a:srgbClr val="7FB5B0"/>
              </a:solidFill>
              <a:effectLst/>
            </c:spPr>
          </c:dPt>
          <c:dLbls>
            <c:dLbl>
              <c:idx val="0"/>
              <c:numFmt formatCode="0.0&quot;%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1B2A2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numFmt formatCode="0.0&quot;%&quot;" sourceLinked="0"/>
              <c:spPr/>
              <c:txPr>
                <a:bodyPr/>
                <a:lstStyle/>
                <a:p>
                  <a:pPr>
                    <a:defRPr sz="1600" b="1" i="0" u="none" strike="noStrike">
                      <a:solidFill>
                        <a:srgbClr val="1B2A2F"/>
                      </a:solidFill>
                      <a:latin typeface="+mn-lt"/>
                    </a:defRPr>
                  </a:pPr>
                </a:p>
              </c:txPr>
              <c:showLegendKey val="0"/>
              <c:showVal val="1"/>
              <c:showCatName val="0"/>
              <c:showSerName val="0"/>
              <c:showPercent val="0"/>
              <c:showBubbleSize val="0"/>
            </c:dLbl>
            <c:numFmt formatCode="0.0&quot;%&quot;" sourceLinked="0"/>
            <c:txPr>
              <a:bodyPr/>
              <a:lstStyle/>
              <a:p>
                <a:pPr>
                  <a:defRPr sz="1800" b="1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Said yes</c:v>
                </c:pt>
                <c:pt idx="1">
                  <c:v>Said no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12.3</c:v>
                </c:pt>
                <c:pt idx="1">
                  <c:v>87.7</c:v>
                </c:pt>
              </c:numCache>
            </c:numRef>
          </c:val>
        </c:ser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400">
              <a:solidFill>
                <a:srgbClr val="1B2A2F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3C49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0B3C49"/>
                </a:solidFill>
                <a:latin typeface="+mj-lt"/>
              </a:rPr>
              <a:t>Yes-rate by vehicle damage history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Yes-rate</c:v>
                </c:pt>
              </c:strCache>
            </c:strRef>
          </c:tx>
          <c:spPr>
            <a:solidFill>
              <a:srgbClr val="7FB5B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B5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7A7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No prior damage</c:v>
                  </c:pt>
                  <c:pt idx="1">
                    <c:v>Prior damage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0.5</c:v>
                </c:pt>
                <c:pt idx="1">
                  <c:v>23.8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D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DCE6E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D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3C49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0B3C49"/>
                </a:solidFill>
                <a:latin typeface="+mj-lt"/>
              </a:rPr>
              <a:t>Yes-rate by current insurance status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Yes-rate</c:v>
                </c:pt>
              </c:strCache>
            </c:strRef>
          </c:tx>
          <c:spPr>
            <a:solidFill>
              <a:srgbClr val="7FB5B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B5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7A75"/>
              </a:solidFill>
              <a:effectLst/>
            </c:spPr>
          </c:dPt>
          <c:cat>
            <c:multiLvlStrRef>
              <c:f>Sheet1!$A$2:$A$3</c:f>
              <c:multiLvlStrCache>
                <c:ptCount val="2"/>
                <c:lvl>
                  <c:pt idx="0">
                    <c:v>Already insured</c:v>
                  </c:pt>
                  <c:pt idx="1">
                    <c:v>Not insured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0.1</c:v>
                </c:pt>
                <c:pt idx="1">
                  <c:v>22.5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D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9525" cap="flat">
              <a:solidFill>
                <a:srgbClr val="DCE6E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D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3C49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0B3C49"/>
                </a:solidFill>
                <a:latin typeface="+mj-lt"/>
              </a:rPr>
              <a:t>Yes-rate by customer age group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Yes-rate</c:v>
                </c:pt>
              </c:strCache>
            </c:strRef>
          </c:tx>
          <c:spPr>
            <a:solidFill>
              <a:srgbClr val="7FB5B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B5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7A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7A75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B7A75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7FB5B0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20-29</c:v>
                  </c:pt>
                  <c:pt idx="1">
                    <c:v>30-39</c:v>
                  </c:pt>
                  <c:pt idx="2">
                    <c:v>40-49</c:v>
                  </c:pt>
                  <c:pt idx="3">
                    <c:v>50-59</c:v>
                  </c:pt>
                  <c:pt idx="4">
                    <c:v>60+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4.1</c:v>
                </c:pt>
                <c:pt idx="1">
                  <c:v>20</c:v>
                </c:pt>
                <c:pt idx="2">
                  <c:v>21.2</c:v>
                </c:pt>
                <c:pt idx="3">
                  <c:v>17.7</c:v>
                </c:pt>
                <c:pt idx="4">
                  <c:v>10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D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9525" cap="flat">
              <a:solidFill>
                <a:srgbClr val="DCE6E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D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3C49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0B3C49"/>
                </a:solidFill>
                <a:latin typeface="+mj-lt"/>
              </a:rPr>
              <a:t>Yes-rate by vehicle age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Yes-rate</c:v>
                </c:pt>
              </c:strCache>
            </c:strRef>
          </c:tx>
          <c:spPr>
            <a:solidFill>
              <a:srgbClr val="7FB5B0"/>
            </a:solidFill>
            <a:effectLst/>
          </c:spPr>
          <c:invertIfNegative val="0"/>
          <c:dLbls>
            <c:numFmt formatCode="0.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B5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7A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B7A75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Under 1 yr</c:v>
                  </c:pt>
                  <c:pt idx="1">
                    <c:v>1-2 yrs</c:v>
                  </c:pt>
                  <c:pt idx="2">
                    <c:v>Over 2 yrs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4.4</c:v>
                </c:pt>
                <c:pt idx="1">
                  <c:v>17.4</c:v>
                </c:pt>
                <c:pt idx="2">
                  <c:v>29.4</c:v>
                </c:pt>
              </c:numCache>
            </c:numRef>
          </c:val>
        </c:ser>
        <c:dLbls>
          <c:numFmt formatCode="0.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D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  <c:min val="0"/>
        </c:scaling>
        <c:delete val="0"/>
        <c:axPos val="l"/>
        <c:majorGridlines>
          <c:spPr>
            <a:ln w="9525" cap="flat">
              <a:solidFill>
                <a:srgbClr val="DCE6E7"/>
              </a:solidFill>
              <a:prstDash val="solid"/>
              <a:round/>
            </a:ln>
          </c:spPr>
        </c:majorGridlines>
        <c:numFmt formatCode="0&quot;%&quot;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D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10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3C49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0B3C49"/>
                </a:solidFill>
                <a:latin typeface="+mj-lt"/>
              </a:rPr>
              <a:t>Ranking score (ROC-AUC; 0.5 = guessing)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7FB5B0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FB5B0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B7A7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FB5B0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Logistic Regression</c:v>
                  </c:pt>
                  <c:pt idx="1">
                    <c:v>Random Forest</c:v>
                  </c:pt>
                  <c:pt idx="2">
                    <c:v>Decision Tree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0.846</c:v>
                </c:pt>
                <c:pt idx="1">
                  <c:v>0.84</c:v>
                </c:pt>
                <c:pt idx="2">
                  <c:v>0.829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4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D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.5"/>
        </c:scaling>
        <c:delete val="0"/>
        <c:axPos val="l"/>
        <c:majorGridlines>
          <c:spPr>
            <a:ln w="9525" cap="flat">
              <a:solidFill>
                <a:srgbClr val="DCE6E7"/>
              </a:solidFill>
              <a:prstDash val="solid"/>
              <a:round/>
            </a:ln>
          </c:spPr>
        </c:majorGridlines>
        <c:numFmt formatCode="0.0" sourceLinked="0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D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0.1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600" b="0" i="0" u="none" strike="noStrike">
                <a:solidFill>
                  <a:srgbClr val="0B3C49"/>
                </a:solidFill>
                <a:latin typeface="+mj-lt"/>
              </a:defRPr>
            </a:pPr>
            <a:r>
              <a:rPr sz="1600" b="0" i="0" u="none" strike="noStrike">
                <a:solidFill>
                  <a:srgbClr val="0B3C49"/>
                </a:solidFill>
                <a:latin typeface="+mj-lt"/>
              </a:rPr>
              <a:t>Average impact on prediction (SHAP, top 6)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Importance</c:v>
                </c:pt>
              </c:strCache>
            </c:strRef>
          </c:tx>
          <c:spPr>
            <a:solidFill>
              <a:srgbClr val="0B7A75"/>
            </a:solidFill>
            <a:effectLst/>
          </c:spPr>
          <c:invertIfNegative val="0"/>
          <c:dLbls>
            <c:numFmt formatCode="0.000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1B2A2F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Already insured?</c:v>
                  </c:pt>
                  <c:pt idx="1">
                    <c:v>Damaged and not insured</c:v>
                  </c:pt>
                  <c:pt idx="2">
                    <c:v>Young licensed driver (25 or under)</c:v>
                  </c:pt>
                  <c:pt idx="3">
                    <c:v>Vehicle previously damaged</c:v>
                  </c:pt>
                  <c:pt idx="4">
                    <c:v>Sales channel</c:v>
                  </c:pt>
                  <c:pt idx="5">
                    <c:v>Age 60+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0.133</c:v>
                </c:pt>
                <c:pt idx="1">
                  <c:v>0.082</c:v>
                </c:pt>
                <c:pt idx="2">
                  <c:v>0.075</c:v>
                </c:pt>
                <c:pt idx="3">
                  <c:v>0.067</c:v>
                </c:pt>
                <c:pt idx="4">
                  <c:v>0.051</c:v>
                </c:pt>
                <c:pt idx="5">
                  <c:v>0.042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b="1" i="0" strike="noStrike" sz="1400" u="none">
                  <a:solidFill>
                    <a:srgbClr val="1B2A2F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5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5B6D72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16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B6D72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Purpose: show how data can focus our vehicle-insurance cross-sell outreach on the customers most likely to say yes.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numbers to remember. 12.3% base yes-rate; 25.0% in the prior-damage, not-insured group; that group (47.9% of customers) holds 97.7% of all yes-responders; model ROC-AUC about 0.84 on held-out customers.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Class imbalance: 46,710 of 381,109 customers (12.3%) responded yes. A model that always says no would be 88% accurate yet useless, so we judge models on ranking quality, not accuracy alone.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Computed from data.csv. Vehicle damage: 0.5% vs 23.8%. Previously insured: 0.1% vs 22.5%. These two attributes overlap heavily (strongly negatively correlated).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 groups 30-39 (20.0%) and 40-49 (21.2%) are most receptive; 50-59 is 17.7%; 60+ is 10.0%; 20-29 is 4.1%. Vehicles over 2 years: 16,007 customers (4.2%) at 29.4%.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Segment = Vehicle_Damage Yes AND Previously_Insured 0. 47.9% of customers; 25.0% response vs 0.5%; contains 97.7% of all 46,710 yes-responders. Computed from the full dataset (a rule, not model output).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Train 304,887 rows; test 76,222 rows; stratified so both keep the 12.3% yes-rate. SMOTE sits inside an imblearn Pipeline so it is fitted on training folds only. Tuning optimised ROC-AUC.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Test-set metrics from the notebook run (default 0.5 threshold). ROC-AUC: LR 0.8456, RF 0.8402, DT 0.8294. RF flags about 21% of customers (recall 0.56, precision 0.33); LR flags about 41% (recall 0.92, precision 0.28). 0.328 / 0.1226 = 2.7x lift over random. LR is a near-equal simpler alternative if ranking quality is the only goal.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Mean |SHAP| on a 1,000-row random test sample (Random Forest, TreeExplainer). Previously_Insured, Vehicle_Damage and Damage_NotInsured overlap, so SHAP splits credit among them. Young_Licensed_Driver flags age 25 or under with a licence (30% of customers, 3.5% response).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decision: approve using the ranked list to focus the next campaign. Model gives about 1 in 3 precision at the default threshold, so frame it as prioritisation, not certainty.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Insurance cross-sell response model  |  Shareholder briefing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E_DAR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2"/>
          </a:solidFill>
          <a:ln/>
        </p:spPr>
      </p:sp>
      <p:sp>
        <p:nvSpPr>
          <p:cNvPr id="3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3400" dirty="0"/>
          </a:p>
        </p:txBody>
      </p:sp>
      <p:sp>
        <p:nvSpPr>
          <p:cNvPr id="4" name="Text 1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Insurance cross-sell response model  |  Shareholder briefing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3-1.png"/><Relationship Id="rId3" Type="http://schemas.openxmlformats.org/officeDocument/2006/relationships/image" Target="../media/image-3-2.png"/><Relationship Id="rId4" Type="http://schemas.openxmlformats.org/officeDocument/2006/relationships/image" Target="../media/image-3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chart" Target="/ppt/charts/chart5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7.xml"/><Relationship Id="rId2" Type="http://schemas.openxmlformats.org/officeDocument/2006/relationships/image" Target="../media/image-9-1.png"/><Relationship Id="rId3" Type="http://schemas.openxmlformats.org/officeDocument/2006/relationships/image" Target="../media/image-9-2.png"/><Relationship Id="rId4" Type="http://schemas.openxmlformats.org/officeDocument/2006/relationships/image" Target="../media/image-9-3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ield icon circle"/>
          <p:cNvSpPr/>
          <p:nvPr/>
        </p:nvSpPr>
        <p:spPr>
          <a:xfrm>
            <a:off x="8549640" y="1508760"/>
            <a:ext cx="2926080" cy="2926080"/>
          </a:xfrm>
          <a:prstGeom prst="ellipse">
            <a:avLst/>
          </a:prstGeom>
          <a:solidFill>
            <a:schemeClr val="accent6"/>
          </a:solidFill>
          <a:ln/>
        </p:spPr>
      </p:sp>
      <p:pic>
        <p:nvPicPr>
          <p:cNvPr id="3" name="Shield icon" descr="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81160" y="2240280"/>
            <a:ext cx="1463040" cy="1463040"/>
          </a:xfrm>
          <a:prstGeom prst="rect">
            <a:avLst/>
          </a:prstGeom>
        </p:spPr>
      </p:pic>
      <p:sp>
        <p:nvSpPr>
          <p:cNvPr id="4" name="Title"/>
          <p:cNvSpPr txBox="1"/>
          <p:nvPr/>
        </p:nvSpPr>
        <p:spPr>
          <a:xfrm>
            <a:off x="548640" y="1828800"/>
            <a:ext cx="749808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Predicting who will say yes to vehicle insurance</a:t>
            </a:r>
            <a:endParaRPr lang="en-US" sz="4400" dirty="0"/>
          </a:p>
        </p:txBody>
      </p:sp>
      <p:sp>
        <p:nvSpPr>
          <p:cNvPr id="5" name="Subtitle"/>
          <p:cNvSpPr txBox="1"/>
          <p:nvPr/>
        </p:nvSpPr>
        <p:spPr>
          <a:xfrm>
            <a:off x="548640" y="4023360"/>
            <a:ext cx="74980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4"/>
                </a:solidFill>
              </a:rPr>
              <a:t>A targeting model for cross-selling to existing health-insurance customers</a:t>
            </a:r>
            <a:endParaRPr lang="en-US" sz="2000" dirty="0"/>
          </a:p>
        </p:txBody>
      </p:sp>
      <p:sp>
        <p:nvSpPr>
          <p:cNvPr id="6" name="Footer note"/>
          <p:cNvSpPr txBox="1"/>
          <p:nvPr/>
        </p:nvSpPr>
        <p:spPr>
          <a:xfrm>
            <a:off x="548640" y="5943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2"/>
                </a:solidFill>
              </a:rPr>
              <a:t>Shareholder briefing  |  381,109 customers analysed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Executive summary</a:t>
            </a:r>
            <a:endParaRPr lang="en-US" sz="3400" dirty="0"/>
          </a:p>
        </p:txBody>
      </p:sp>
      <p:sp>
        <p:nvSpPr>
          <p:cNvPr id="3" name="Stat card 1"/>
          <p:cNvSpPr/>
          <p:nvPr/>
        </p:nvSpPr>
        <p:spPr>
          <a:xfrm>
            <a:off x="548640" y="1554480"/>
            <a:ext cx="2578608" cy="310896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4" name="Card 1 icon circle"/>
          <p:cNvSpPr/>
          <p:nvPr/>
        </p:nvSpPr>
        <p:spPr>
          <a:xfrm>
            <a:off x="822960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Card 1 icon" descr="Card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2980" y="1988820"/>
            <a:ext cx="320040" cy="320040"/>
          </a:xfrm>
          <a:prstGeom prst="rect">
            <a:avLst/>
          </a:prstGeom>
        </p:spPr>
      </p:pic>
      <p:sp>
        <p:nvSpPr>
          <p:cNvPr id="6" name="Stat 1"/>
          <p:cNvSpPr txBox="1"/>
          <p:nvPr/>
        </p:nvSpPr>
        <p:spPr>
          <a:xfrm>
            <a:off x="822960" y="2560320"/>
            <a:ext cx="202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12.3%</a:t>
            </a:r>
            <a:endParaRPr lang="en-US" sz="4800" dirty="0"/>
          </a:p>
        </p:txBody>
      </p:sp>
      <p:sp>
        <p:nvSpPr>
          <p:cNvPr id="7" name="Stat label 1"/>
          <p:cNvSpPr txBox="1"/>
          <p:nvPr/>
        </p:nvSpPr>
        <p:spPr>
          <a:xfrm>
            <a:off x="822960" y="3474720"/>
            <a:ext cx="2029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customers say yes to a blanket offer</a:t>
            </a:r>
            <a:endParaRPr lang="en-US" sz="1400" dirty="0"/>
          </a:p>
        </p:txBody>
      </p:sp>
      <p:sp>
        <p:nvSpPr>
          <p:cNvPr id="8" name="Stat card 2"/>
          <p:cNvSpPr/>
          <p:nvPr/>
        </p:nvSpPr>
        <p:spPr>
          <a:xfrm>
            <a:off x="3374136" y="1554480"/>
            <a:ext cx="2578608" cy="310896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9" name="Card 2 icon circle"/>
          <p:cNvSpPr/>
          <p:nvPr/>
        </p:nvSpPr>
        <p:spPr>
          <a:xfrm>
            <a:off x="3648456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0" name="Card 2 icon" descr="Card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8476" y="1988820"/>
            <a:ext cx="320040" cy="320040"/>
          </a:xfrm>
          <a:prstGeom prst="rect">
            <a:avLst/>
          </a:prstGeom>
        </p:spPr>
      </p:pic>
      <p:sp>
        <p:nvSpPr>
          <p:cNvPr id="11" name="Stat 2"/>
          <p:cNvSpPr txBox="1"/>
          <p:nvPr/>
        </p:nvSpPr>
        <p:spPr>
          <a:xfrm>
            <a:off x="3648456" y="2560320"/>
            <a:ext cx="202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800" dirty="0"/>
          </a:p>
        </p:txBody>
      </p:sp>
      <p:sp>
        <p:nvSpPr>
          <p:cNvPr id="12" name="Stat label 2"/>
          <p:cNvSpPr txBox="1"/>
          <p:nvPr/>
        </p:nvSpPr>
        <p:spPr>
          <a:xfrm>
            <a:off x="3648456" y="3474720"/>
            <a:ext cx="2029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say yes when their vehicle was damaged and they have no cover (vs 0.5% for all others)</a:t>
            </a:r>
            <a:endParaRPr lang="en-US" sz="1400" dirty="0"/>
          </a:p>
        </p:txBody>
      </p:sp>
      <p:sp>
        <p:nvSpPr>
          <p:cNvPr id="13" name="Stat card 3"/>
          <p:cNvSpPr/>
          <p:nvPr/>
        </p:nvSpPr>
        <p:spPr>
          <a:xfrm>
            <a:off x="6199632" y="1554480"/>
            <a:ext cx="2578608" cy="310896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4" name="Card 3 icon circle"/>
          <p:cNvSpPr/>
          <p:nvPr/>
        </p:nvSpPr>
        <p:spPr>
          <a:xfrm>
            <a:off x="6473952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5" name="Card 3 icon" descr="Card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3972" y="1988820"/>
            <a:ext cx="320040" cy="320040"/>
          </a:xfrm>
          <a:prstGeom prst="rect">
            <a:avLst/>
          </a:prstGeom>
        </p:spPr>
      </p:pic>
      <p:sp>
        <p:nvSpPr>
          <p:cNvPr id="16" name="Stat 3"/>
          <p:cNvSpPr txBox="1"/>
          <p:nvPr/>
        </p:nvSpPr>
        <p:spPr>
          <a:xfrm>
            <a:off x="6473952" y="2560320"/>
            <a:ext cx="202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97.7%</a:t>
            </a:r>
            <a:endParaRPr lang="en-US" sz="4800" dirty="0"/>
          </a:p>
        </p:txBody>
      </p:sp>
      <p:sp>
        <p:nvSpPr>
          <p:cNvPr id="17" name="Stat label 3"/>
          <p:cNvSpPr txBox="1"/>
          <p:nvPr/>
        </p:nvSpPr>
        <p:spPr>
          <a:xfrm>
            <a:off x="6473952" y="3474720"/>
            <a:ext cx="2029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of all “yes” customers sit in that group, which is just 47.9% of the base</a:t>
            </a:r>
            <a:endParaRPr lang="en-US" sz="1400" dirty="0"/>
          </a:p>
        </p:txBody>
      </p:sp>
      <p:sp>
        <p:nvSpPr>
          <p:cNvPr id="18" name="Stat card 4"/>
          <p:cNvSpPr/>
          <p:nvPr/>
        </p:nvSpPr>
        <p:spPr>
          <a:xfrm>
            <a:off x="9025128" y="1554480"/>
            <a:ext cx="2578608" cy="310896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9" name="Card 4 icon circle"/>
          <p:cNvSpPr/>
          <p:nvPr/>
        </p:nvSpPr>
        <p:spPr>
          <a:xfrm>
            <a:off x="9299448" y="1828800"/>
            <a:ext cx="640080" cy="64008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0" name="Card 4 icon" descr="Card 4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9468" y="1988820"/>
            <a:ext cx="320040" cy="320040"/>
          </a:xfrm>
          <a:prstGeom prst="rect">
            <a:avLst/>
          </a:prstGeom>
        </p:spPr>
      </p:pic>
      <p:sp>
        <p:nvSpPr>
          <p:cNvPr id="21" name="Stat 4"/>
          <p:cNvSpPr txBox="1"/>
          <p:nvPr/>
        </p:nvSpPr>
        <p:spPr>
          <a:xfrm>
            <a:off x="9299448" y="2560320"/>
            <a:ext cx="20299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0.84</a:t>
            </a:r>
            <a:endParaRPr lang="en-US" sz="4800" dirty="0"/>
          </a:p>
        </p:txBody>
      </p:sp>
      <p:sp>
        <p:nvSpPr>
          <p:cNvPr id="22" name="Stat label 4"/>
          <p:cNvSpPr txBox="1"/>
          <p:nvPr/>
        </p:nvSpPr>
        <p:spPr>
          <a:xfrm>
            <a:off x="9299448" y="3474720"/>
            <a:ext cx="202996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model ranking score (0.5 = guessing, 1.0 = perfect)</a:t>
            </a:r>
            <a:endParaRPr lang="en-US" sz="1400" dirty="0"/>
          </a:p>
        </p:txBody>
      </p:sp>
      <p:sp>
        <p:nvSpPr>
          <p:cNvPr id="23" name="Bottom line"/>
          <p:cNvSpPr txBox="1"/>
          <p:nvPr/>
        </p:nvSpPr>
        <p:spPr>
          <a:xfrm>
            <a:off x="548640" y="5029200"/>
            <a:ext cx="1109167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Bottom line: </a:t>
            </a:r>
            <a:pPr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use the model to rank customers and aim outreach at uninsured customers with prior vehicle damage, instead of contacting everyone.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Only about 1 in 8 customers says yes</a:t>
            </a:r>
            <a:endParaRPr lang="en-US" sz="3400" dirty="0"/>
          </a:p>
        </p:txBody>
      </p:sp>
      <p:graphicFrame>
        <p:nvGraphicFramePr>
          <p:cNvPr id="3" name="Chart 0" descr="Doughnut chart: 12.3% said yes, 87.7% said no"/>
          <p:cNvGraphicFramePr/>
          <p:nvPr/>
        </p:nvGraphicFramePr>
        <p:xfrm>
          <a:off x="548640" y="1463040"/>
          <a:ext cx="47548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Fact 1 icon circle"/>
          <p:cNvSpPr/>
          <p:nvPr/>
        </p:nvSpPr>
        <p:spPr>
          <a:xfrm>
            <a:off x="6035040" y="164592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Fact 1 icon" descr="Fact 1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29350" y="1840230"/>
            <a:ext cx="388620" cy="388620"/>
          </a:xfrm>
          <a:prstGeom prst="rect">
            <a:avLst/>
          </a:prstGeom>
        </p:spPr>
      </p:pic>
      <p:sp>
        <p:nvSpPr>
          <p:cNvPr id="6" name="Fact 1 heading"/>
          <p:cNvSpPr txBox="1"/>
          <p:nvPr/>
        </p:nvSpPr>
        <p:spPr>
          <a:xfrm>
            <a:off x="7086600" y="1600200"/>
            <a:ext cx="4553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381,109 customers, 12 attributes</a:t>
            </a:r>
            <a:endParaRPr lang="en-US" sz="2000" dirty="0"/>
          </a:p>
        </p:txBody>
      </p:sp>
      <p:sp>
        <p:nvSpPr>
          <p:cNvPr id="7" name="Fact 1 text"/>
          <p:cNvSpPr txBox="1"/>
          <p:nvPr/>
        </p:nvSpPr>
        <p:spPr>
          <a:xfrm>
            <a:off x="7086600" y="2029968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Demographics, vehicle history and policy details for existing health-insurance customers.</a:t>
            </a:r>
            <a:endParaRPr lang="en-US" sz="1500" dirty="0"/>
          </a:p>
        </p:txBody>
      </p:sp>
      <p:sp>
        <p:nvSpPr>
          <p:cNvPr id="8" name="Fact 2 icon circle"/>
          <p:cNvSpPr/>
          <p:nvPr/>
        </p:nvSpPr>
        <p:spPr>
          <a:xfrm>
            <a:off x="6035040" y="315468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Fact 2 icon" descr="Fact 2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29350" y="3348990"/>
            <a:ext cx="388620" cy="388620"/>
          </a:xfrm>
          <a:prstGeom prst="rect">
            <a:avLst/>
          </a:prstGeom>
        </p:spPr>
      </p:pic>
      <p:sp>
        <p:nvSpPr>
          <p:cNvPr id="10" name="Fact 2 heading"/>
          <p:cNvSpPr txBox="1"/>
          <p:nvPr/>
        </p:nvSpPr>
        <p:spPr>
          <a:xfrm>
            <a:off x="7086600" y="3108960"/>
            <a:ext cx="4553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Clean, complete data</a:t>
            </a:r>
            <a:endParaRPr lang="en-US" sz="2000" dirty="0"/>
          </a:p>
        </p:txBody>
      </p:sp>
      <p:sp>
        <p:nvSpPr>
          <p:cNvPr id="11" name="Fact 2 text"/>
          <p:cNvSpPr txBox="1"/>
          <p:nvPr/>
        </p:nvSpPr>
        <p:spPr>
          <a:xfrm>
            <a:off x="7086600" y="3538728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No missing values and no duplicate records, so no data repair was needed.</a:t>
            </a:r>
            <a:endParaRPr lang="en-US" sz="1500" dirty="0"/>
          </a:p>
        </p:txBody>
      </p:sp>
      <p:sp>
        <p:nvSpPr>
          <p:cNvPr id="12" name="Fact 3 icon circle"/>
          <p:cNvSpPr/>
          <p:nvPr/>
        </p:nvSpPr>
        <p:spPr>
          <a:xfrm>
            <a:off x="6035040" y="4663440"/>
            <a:ext cx="777240" cy="77724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Fact 3 icon" descr="Fact 3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9350" y="4857750"/>
            <a:ext cx="388620" cy="388620"/>
          </a:xfrm>
          <a:prstGeom prst="rect">
            <a:avLst/>
          </a:prstGeom>
        </p:spPr>
      </p:pic>
      <p:sp>
        <p:nvSpPr>
          <p:cNvPr id="14" name="Fact 3 heading"/>
          <p:cNvSpPr txBox="1"/>
          <p:nvPr/>
        </p:nvSpPr>
        <p:spPr>
          <a:xfrm>
            <a:off x="7086600" y="4617720"/>
            <a:ext cx="4553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Blanket outreach is inefficient</a:t>
            </a:r>
            <a:endParaRPr lang="en-US" sz="2000" dirty="0"/>
          </a:p>
        </p:txBody>
      </p:sp>
      <p:sp>
        <p:nvSpPr>
          <p:cNvPr id="15" name="Fact 3 text"/>
          <p:cNvSpPr txBox="1"/>
          <p:nvPr/>
        </p:nvSpPr>
        <p:spPr>
          <a:xfrm>
            <a:off x="7086600" y="5047488"/>
            <a:ext cx="45537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About 88% of contacts would decline. The goal is to find the 12% who will say yes.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Prior damage and no cover drive interest</a:t>
            </a:r>
            <a:endParaRPr lang="en-US" sz="3400" dirty="0"/>
          </a:p>
        </p:txBody>
      </p:sp>
      <p:graphicFrame>
        <p:nvGraphicFramePr>
          <p:cNvPr id="3" name="Chart 0" descr="Bar chart: 0.5% yes with no prior damage, 23.8% with prior damage"/>
          <p:cNvGraphicFramePr/>
          <p:nvPr/>
        </p:nvGraphicFramePr>
        <p:xfrm>
          <a:off x="548640" y="1417320"/>
          <a:ext cx="5394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Bar chart: 0.1% yes if already insured, 22.5% if not insured"/>
          <p:cNvGraphicFramePr/>
          <p:nvPr/>
        </p:nvGraphicFramePr>
        <p:xfrm>
          <a:off x="6245352" y="1417320"/>
          <a:ext cx="539496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akeaway"/>
          <p:cNvSpPr txBox="1"/>
          <p:nvPr/>
        </p:nvSpPr>
        <p:spPr>
          <a:xfrm>
            <a:off x="548640" y="5532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Customers with past vehicle damage may see more value in cover; those already insured rarely need a second policy.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Mid-life customers and older vehicles convert best</a:t>
            </a:r>
            <a:endParaRPr lang="en-US" sz="3400" dirty="0"/>
          </a:p>
        </p:txBody>
      </p:sp>
      <p:graphicFrame>
        <p:nvGraphicFramePr>
          <p:cNvPr id="3" name="Chart 0" descr="Bar chart of yes-rate by age group: 4.1%, 20.0%, 21.2%, 17.7%, 10.0%"/>
          <p:cNvGraphicFramePr/>
          <p:nvPr/>
        </p:nvGraphicFramePr>
        <p:xfrm>
          <a:off x="548640" y="1417320"/>
          <a:ext cx="603504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4" name="Chart 1" descr="Bar chart of yes-rate by vehicle age: 4.4%, 17.4%, 29.4%"/>
          <p:cNvGraphicFramePr/>
          <p:nvPr/>
        </p:nvGraphicFramePr>
        <p:xfrm>
          <a:off x="6793992" y="1417320"/>
          <a:ext cx="4846320" cy="39776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akeaway"/>
          <p:cNvSpPr txBox="1"/>
          <p:nvPr/>
        </p:nvSpPr>
        <p:spPr>
          <a:xfrm>
            <a:off x="548640" y="5532120"/>
            <a:ext cx="11091672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Customers aged 30-49 respond at about 20%, versus 4% for under-30s. Vehicles over 2 years old respond most, but are only 4% of customers.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One segment holds nearly all the opportunity</a:t>
            </a:r>
            <a:endParaRPr lang="en-US" sz="3400" dirty="0"/>
          </a:p>
        </p:txBody>
      </p:sp>
      <p:sp>
        <p:nvSpPr>
          <p:cNvPr id="3" name="Chart title"/>
          <p:cNvSpPr txBox="1"/>
          <p:nvPr/>
        </p:nvSpPr>
        <p:spPr>
          <a:xfrm>
            <a:off x="548640" y="1554480"/>
            <a:ext cx="6766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customers and the “yes” answers sit</a:t>
            </a:r>
            <a:endParaRPr lang="en-US" sz="1600" dirty="0"/>
          </a:p>
        </p:txBody>
      </p:sp>
      <p:sp>
        <p:nvSpPr>
          <p:cNvPr id="4" name="Bar label 1"/>
          <p:cNvSpPr txBox="1"/>
          <p:nvPr/>
        </p:nvSpPr>
        <p:spPr>
          <a:xfrm>
            <a:off x="548640" y="22860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Share of customers</a:t>
            </a:r>
            <a:endParaRPr lang="en-US" sz="1500" dirty="0"/>
          </a:p>
        </p:txBody>
      </p:sp>
      <p:sp>
        <p:nvSpPr>
          <p:cNvPr id="5" name="Segment bar 1"/>
          <p:cNvSpPr/>
          <p:nvPr/>
        </p:nvSpPr>
        <p:spPr>
          <a:xfrm>
            <a:off x="2834640" y="2286000"/>
            <a:ext cx="1883390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Other bar 1"/>
          <p:cNvSpPr/>
          <p:nvPr/>
        </p:nvSpPr>
        <p:spPr>
          <a:xfrm>
            <a:off x="4718030" y="2286000"/>
            <a:ext cx="2048530" cy="8686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7" name="Segment value 1"/>
          <p:cNvSpPr txBox="1"/>
          <p:nvPr/>
        </p:nvSpPr>
        <p:spPr>
          <a:xfrm>
            <a:off x="2834640" y="2286000"/>
            <a:ext cx="188339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47.9%</a:t>
            </a:r>
            <a:endParaRPr lang="en-US" sz="1800" dirty="0"/>
          </a:p>
        </p:txBody>
      </p:sp>
      <p:sp>
        <p:nvSpPr>
          <p:cNvPr id="8" name="Other value 1"/>
          <p:cNvSpPr txBox="1"/>
          <p:nvPr/>
        </p:nvSpPr>
        <p:spPr>
          <a:xfrm>
            <a:off x="4718030" y="2286000"/>
            <a:ext cx="204853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52.1%</a:t>
            </a:r>
            <a:endParaRPr lang="en-US" sz="1800" dirty="0"/>
          </a:p>
        </p:txBody>
      </p:sp>
      <p:sp>
        <p:nvSpPr>
          <p:cNvPr id="9" name="Bar label 2"/>
          <p:cNvSpPr txBox="1"/>
          <p:nvPr/>
        </p:nvSpPr>
        <p:spPr>
          <a:xfrm>
            <a:off x="548640" y="36576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Share of “yes” customers</a:t>
            </a:r>
            <a:endParaRPr lang="en-US" sz="1500" dirty="0"/>
          </a:p>
        </p:txBody>
      </p:sp>
      <p:sp>
        <p:nvSpPr>
          <p:cNvPr id="10" name="Segment bar 2"/>
          <p:cNvSpPr/>
          <p:nvPr/>
        </p:nvSpPr>
        <p:spPr>
          <a:xfrm>
            <a:off x="2834640" y="3657600"/>
            <a:ext cx="3841486" cy="8686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" name="Other bar 2"/>
          <p:cNvSpPr/>
          <p:nvPr/>
        </p:nvSpPr>
        <p:spPr>
          <a:xfrm>
            <a:off x="6676126" y="3657600"/>
            <a:ext cx="90434" cy="868680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2" name="Segment value 2"/>
          <p:cNvSpPr txBox="1"/>
          <p:nvPr/>
        </p:nvSpPr>
        <p:spPr>
          <a:xfrm>
            <a:off x="2834640" y="3657600"/>
            <a:ext cx="384148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97.7%</a:t>
            </a:r>
            <a:endParaRPr lang="en-US" sz="1800" dirty="0"/>
          </a:p>
        </p:txBody>
      </p:sp>
      <p:sp>
        <p:nvSpPr>
          <p:cNvPr id="13" name="Other value 2"/>
          <p:cNvSpPr txBox="1"/>
          <p:nvPr/>
        </p:nvSpPr>
        <p:spPr>
          <a:xfrm>
            <a:off x="6839712" y="365760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2.3%</a:t>
            </a:r>
            <a:endParaRPr lang="en-US" sz="1600" dirty="0"/>
          </a:p>
        </p:txBody>
      </p:sp>
      <p:sp>
        <p:nvSpPr>
          <p:cNvPr id="14" name="Legend swatch 1"/>
          <p:cNvSpPr/>
          <p:nvPr/>
        </p:nvSpPr>
        <p:spPr>
          <a:xfrm>
            <a:off x="2834640" y="4846320"/>
            <a:ext cx="201168" cy="20116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5" name="Legend 1"/>
          <p:cNvSpPr txBox="1"/>
          <p:nvPr/>
        </p:nvSpPr>
        <p:spPr>
          <a:xfrm>
            <a:off x="3127248" y="4800600"/>
            <a:ext cx="2377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Prior damage and not insured</a:t>
            </a:r>
            <a:endParaRPr lang="en-US" sz="1300" dirty="0"/>
          </a:p>
        </p:txBody>
      </p:sp>
      <p:sp>
        <p:nvSpPr>
          <p:cNvPr id="16" name="Legend swatch 2"/>
          <p:cNvSpPr/>
          <p:nvPr/>
        </p:nvSpPr>
        <p:spPr>
          <a:xfrm>
            <a:off x="5577840" y="4846320"/>
            <a:ext cx="201168" cy="20116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7" name="Legend 2"/>
          <p:cNvSpPr txBox="1"/>
          <p:nvPr/>
        </p:nvSpPr>
        <p:spPr>
          <a:xfrm>
            <a:off x="5870448" y="48006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Everyone else</a:t>
            </a:r>
            <a:endParaRPr lang="en-US" sz="1300" dirty="0"/>
          </a:p>
        </p:txBody>
      </p:sp>
      <p:sp>
        <p:nvSpPr>
          <p:cNvPr id="18" name="Segment card"/>
          <p:cNvSpPr/>
          <p:nvPr/>
        </p:nvSpPr>
        <p:spPr>
          <a:xfrm>
            <a:off x="7680960" y="1554480"/>
            <a:ext cx="3959352" cy="3931920"/>
          </a:xfrm>
          <a:prstGeom prst="roundRect">
            <a:avLst>
              <a:gd name="adj" fmla="val 2791"/>
            </a:avLst>
          </a:prstGeom>
          <a:solidFill>
            <a:schemeClr val="bg2"/>
          </a:solidFill>
          <a:ln/>
        </p:spPr>
      </p:sp>
      <p:sp>
        <p:nvSpPr>
          <p:cNvPr id="19" name="Segment heading"/>
          <p:cNvSpPr txBox="1"/>
          <p:nvPr/>
        </p:nvSpPr>
        <p:spPr>
          <a:xfrm>
            <a:off x="7955280" y="1737360"/>
            <a:ext cx="34107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chemeClr val="tx2"/>
                </a:solidFill>
              </a:rPr>
              <a:t>The priority segment</a:t>
            </a:r>
            <a:endParaRPr lang="en-US" sz="2000" dirty="0"/>
          </a:p>
        </p:txBody>
      </p:sp>
      <p:sp>
        <p:nvSpPr>
          <p:cNvPr id="20" name="Segment definition"/>
          <p:cNvSpPr txBox="1"/>
          <p:nvPr/>
        </p:nvSpPr>
        <p:spPr>
          <a:xfrm>
            <a:off x="7955280" y="2194560"/>
            <a:ext cx="3410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Vehicle previously damaged and customer not currently insured.</a:t>
            </a:r>
            <a:endParaRPr lang="en-US" sz="1500" dirty="0"/>
          </a:p>
        </p:txBody>
      </p:sp>
      <p:sp>
        <p:nvSpPr>
          <p:cNvPr id="21" name="Segment rate"/>
          <p:cNvSpPr txBox="1"/>
          <p:nvPr/>
        </p:nvSpPr>
        <p:spPr>
          <a:xfrm>
            <a:off x="7955280" y="3108960"/>
            <a:ext cx="341071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chemeClr val="accent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4400" dirty="0"/>
          </a:p>
        </p:txBody>
      </p:sp>
      <p:sp>
        <p:nvSpPr>
          <p:cNvPr id="22" name="Segment rate label"/>
          <p:cNvSpPr txBox="1"/>
          <p:nvPr/>
        </p:nvSpPr>
        <p:spPr>
          <a:xfrm>
            <a:off x="7955280" y="3886200"/>
            <a:ext cx="34107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say yes, compared with 0.5% for all other customers</a:t>
            </a:r>
            <a:endParaRPr lang="en-US" sz="1500" dirty="0"/>
          </a:p>
        </p:txBody>
      </p:sp>
      <p:sp>
        <p:nvSpPr>
          <p:cNvPr id="23" name="Takeaway"/>
          <p:cNvSpPr txBox="1"/>
          <p:nvPr/>
        </p:nvSpPr>
        <p:spPr>
          <a:xfrm>
            <a:off x="548640" y="5760720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Focusing here removes about half of outreach while keeping almost every likely buyer.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How we built and tested the model</a:t>
            </a:r>
            <a:endParaRPr lang="en-US" sz="3400" dirty="0"/>
          </a:p>
        </p:txBody>
      </p:sp>
      <p:sp>
        <p:nvSpPr>
          <p:cNvPr id="3" name="Step card 1"/>
          <p:cNvSpPr/>
          <p:nvPr/>
        </p:nvSpPr>
        <p:spPr>
          <a:xfrm>
            <a:off x="548640" y="1554480"/>
            <a:ext cx="2578608" cy="3291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4" name="Step 1 icon circle"/>
          <p:cNvSpPr/>
          <p:nvPr/>
        </p:nvSpPr>
        <p:spPr>
          <a:xfrm>
            <a:off x="822960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Step 1 icon" descr="Step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5840" y="2011680"/>
            <a:ext cx="365760" cy="365760"/>
          </a:xfrm>
          <a:prstGeom prst="rect">
            <a:avLst/>
          </a:prstGeom>
        </p:spPr>
      </p:pic>
      <p:sp>
        <p:nvSpPr>
          <p:cNvPr id="6" name="Step number 1"/>
          <p:cNvSpPr txBox="1"/>
          <p:nvPr/>
        </p:nvSpPr>
        <p:spPr>
          <a:xfrm>
            <a:off x="2350008" y="17830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600" dirty="0"/>
          </a:p>
        </p:txBody>
      </p:sp>
      <p:sp>
        <p:nvSpPr>
          <p:cNvPr id="7" name="Step heading 1"/>
          <p:cNvSpPr txBox="1"/>
          <p:nvPr/>
        </p:nvSpPr>
        <p:spPr>
          <a:xfrm>
            <a:off x="822960" y="27432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Prepare</a:t>
            </a:r>
            <a:endParaRPr lang="en-US" sz="2200" dirty="0"/>
          </a:p>
        </p:txBody>
      </p:sp>
      <p:sp>
        <p:nvSpPr>
          <p:cNvPr id="8" name="Step text 1"/>
          <p:cNvSpPr txBox="1"/>
          <p:nvPr/>
        </p:nvSpPr>
        <p:spPr>
          <a:xfrm>
            <a:off x="822960" y="3246120"/>
            <a:ext cx="20299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Checked data quality and added 4 simple features, such as “damaged and not insured”.</a:t>
            </a:r>
            <a:endParaRPr lang="en-US" sz="1400" dirty="0"/>
          </a:p>
        </p:txBody>
      </p:sp>
      <p:sp>
        <p:nvSpPr>
          <p:cNvPr id="9" name="Step card 2"/>
          <p:cNvSpPr/>
          <p:nvPr/>
        </p:nvSpPr>
        <p:spPr>
          <a:xfrm>
            <a:off x="3374136" y="1554480"/>
            <a:ext cx="2578608" cy="3291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0" name="Step 2 icon circle"/>
          <p:cNvSpPr/>
          <p:nvPr/>
        </p:nvSpPr>
        <p:spPr>
          <a:xfrm>
            <a:off x="3648456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1" name="Step 2 icon" descr="Step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1336" y="2011680"/>
            <a:ext cx="365760" cy="365760"/>
          </a:xfrm>
          <a:prstGeom prst="rect">
            <a:avLst/>
          </a:prstGeom>
        </p:spPr>
      </p:pic>
      <p:sp>
        <p:nvSpPr>
          <p:cNvPr id="12" name="Step number 2"/>
          <p:cNvSpPr txBox="1"/>
          <p:nvPr/>
        </p:nvSpPr>
        <p:spPr>
          <a:xfrm>
            <a:off x="5175504" y="17830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600" dirty="0"/>
          </a:p>
        </p:txBody>
      </p:sp>
      <p:sp>
        <p:nvSpPr>
          <p:cNvPr id="13" name="Step heading 2"/>
          <p:cNvSpPr txBox="1"/>
          <p:nvPr/>
        </p:nvSpPr>
        <p:spPr>
          <a:xfrm>
            <a:off x="3648456" y="27432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Split &amp; balance</a:t>
            </a:r>
            <a:endParaRPr lang="en-US" sz="2200" dirty="0"/>
          </a:p>
        </p:txBody>
      </p:sp>
      <p:sp>
        <p:nvSpPr>
          <p:cNvPr id="14" name="Step text 2"/>
          <p:cNvSpPr txBox="1"/>
          <p:nvPr/>
        </p:nvSpPr>
        <p:spPr>
          <a:xfrm>
            <a:off x="3648456" y="3246120"/>
            <a:ext cx="20299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80% of customers for training, 20% held back. Synthetic “yes” examples (SMOTE) added to training only.</a:t>
            </a:r>
            <a:endParaRPr lang="en-US" sz="1400" dirty="0"/>
          </a:p>
        </p:txBody>
      </p:sp>
      <p:sp>
        <p:nvSpPr>
          <p:cNvPr id="15" name="Step card 3"/>
          <p:cNvSpPr/>
          <p:nvPr/>
        </p:nvSpPr>
        <p:spPr>
          <a:xfrm>
            <a:off x="6199632" y="1554480"/>
            <a:ext cx="2578608" cy="3291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16" name="Step 3 icon circle"/>
          <p:cNvSpPr/>
          <p:nvPr/>
        </p:nvSpPr>
        <p:spPr>
          <a:xfrm>
            <a:off x="6473952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7" name="Step 3 icon" descr="Step 3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6832" y="2011680"/>
            <a:ext cx="365760" cy="365760"/>
          </a:xfrm>
          <a:prstGeom prst="rect">
            <a:avLst/>
          </a:prstGeom>
        </p:spPr>
      </p:pic>
      <p:sp>
        <p:nvSpPr>
          <p:cNvPr id="18" name="Step number 3"/>
          <p:cNvSpPr txBox="1"/>
          <p:nvPr/>
        </p:nvSpPr>
        <p:spPr>
          <a:xfrm>
            <a:off x="8001000" y="17830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600" dirty="0"/>
          </a:p>
        </p:txBody>
      </p:sp>
      <p:sp>
        <p:nvSpPr>
          <p:cNvPr id="19" name="Step heading 3"/>
          <p:cNvSpPr txBox="1"/>
          <p:nvPr/>
        </p:nvSpPr>
        <p:spPr>
          <a:xfrm>
            <a:off x="6473952" y="27432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Train &amp; tune</a:t>
            </a:r>
            <a:endParaRPr lang="en-US" sz="2200" dirty="0"/>
          </a:p>
        </p:txBody>
      </p:sp>
      <p:sp>
        <p:nvSpPr>
          <p:cNvPr id="20" name="Step text 3"/>
          <p:cNvSpPr txBox="1"/>
          <p:nvPr/>
        </p:nvSpPr>
        <p:spPr>
          <a:xfrm>
            <a:off x="6473952" y="3246120"/>
            <a:ext cx="20299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Three models compared: Logistic Regression, Decision Tree and Random Forest, tuned on ranking quality.</a:t>
            </a:r>
            <a:endParaRPr lang="en-US" sz="1400" dirty="0"/>
          </a:p>
        </p:txBody>
      </p:sp>
      <p:sp>
        <p:nvSpPr>
          <p:cNvPr id="21" name="Step card 4"/>
          <p:cNvSpPr/>
          <p:nvPr/>
        </p:nvSpPr>
        <p:spPr>
          <a:xfrm>
            <a:off x="9025128" y="1554480"/>
            <a:ext cx="2578608" cy="3291840"/>
          </a:xfrm>
          <a:prstGeom prst="roundRect">
            <a:avLst>
              <a:gd name="adj" fmla="val 4255"/>
            </a:avLst>
          </a:prstGeom>
          <a:solidFill>
            <a:schemeClr val="bg2"/>
          </a:solidFill>
          <a:ln/>
        </p:spPr>
      </p:sp>
      <p:sp>
        <p:nvSpPr>
          <p:cNvPr id="22" name="Step 4 icon circle"/>
          <p:cNvSpPr/>
          <p:nvPr/>
        </p:nvSpPr>
        <p:spPr>
          <a:xfrm>
            <a:off x="9299448" y="1828800"/>
            <a:ext cx="731520" cy="73152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23" name="Step 4 icon" descr="Step 4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82328" y="2011680"/>
            <a:ext cx="365760" cy="365760"/>
          </a:xfrm>
          <a:prstGeom prst="rect">
            <a:avLst/>
          </a:prstGeom>
        </p:spPr>
      </p:pic>
      <p:sp>
        <p:nvSpPr>
          <p:cNvPr id="24" name="Step number 4"/>
          <p:cNvSpPr txBox="1"/>
          <p:nvPr/>
        </p:nvSpPr>
        <p:spPr>
          <a:xfrm>
            <a:off x="10826496" y="1783080"/>
            <a:ext cx="502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3600" b="1" dirty="0">
                <a:solidFill>
                  <a:schemeClr val="accent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600" dirty="0"/>
          </a:p>
        </p:txBody>
      </p:sp>
      <p:sp>
        <p:nvSpPr>
          <p:cNvPr id="25" name="Step heading 4"/>
          <p:cNvSpPr txBox="1"/>
          <p:nvPr/>
        </p:nvSpPr>
        <p:spPr>
          <a:xfrm>
            <a:off x="9299448" y="2743200"/>
            <a:ext cx="20299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Test</a:t>
            </a:r>
            <a:endParaRPr lang="en-US" sz="2200" dirty="0"/>
          </a:p>
        </p:txBody>
      </p:sp>
      <p:sp>
        <p:nvSpPr>
          <p:cNvPr id="26" name="Step text 4"/>
          <p:cNvSpPr txBox="1"/>
          <p:nvPr/>
        </p:nvSpPr>
        <p:spPr>
          <a:xfrm>
            <a:off x="9299448" y="3246120"/>
            <a:ext cx="2029968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Scored on 76,222 unseen customers, so results reflect real-world performance.</a:t>
            </a:r>
            <a:endParaRPr lang="en-US" sz="1400" dirty="0"/>
          </a:p>
        </p:txBody>
      </p:sp>
      <p:sp>
        <p:nvSpPr>
          <p:cNvPr id="27" name="Method note"/>
          <p:cNvSpPr txBox="1"/>
          <p:nvPr/>
        </p:nvSpPr>
        <p:spPr>
          <a:xfrm>
            <a:off x="548640" y="52120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1"/>
                </a:solidFill>
              </a:rPr>
              <a:t>Rebalancing was applied inside each tuning step, never to the test customers, to avoid inflated scores.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All three models rank customers well</a:t>
            </a:r>
            <a:endParaRPr lang="en-US" sz="3400" dirty="0"/>
          </a:p>
        </p:txBody>
      </p:sp>
      <p:graphicFrame>
        <p:nvGraphicFramePr>
          <p:cNvPr id="3" name="Chart 0" descr="Bar chart of ROC-AUC: Logistic Regression 0.846, Random Forest 0.840, Decision Tree 0.829"/>
          <p:cNvGraphicFramePr/>
          <p:nvPr/>
        </p:nvGraphicFramePr>
        <p:xfrm>
          <a:off x="548640" y="1417320"/>
          <a:ext cx="5029200" cy="35661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9" name="Model comparison 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852160" y="1600200"/>
          <a:ext cx="5788152" cy="914400"/>
        </p:xfrm>
        <a:graphic>
          <a:graphicData uri="http://schemas.openxmlformats.org/drawingml/2006/table">
            <a:tbl>
              <a:tblPr/>
              <a:tblGrid>
                <a:gridCol w="2221992"/>
                <a:gridCol w="1188720"/>
                <a:gridCol w="1188720"/>
                <a:gridCol w="1188720"/>
              </a:tblGrid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C4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69.5%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91.6%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30.7%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79.1%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 (selected)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80.5%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32.8%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6E3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1B2A2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56.4%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CE6E7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E6E3"/>
                    </a:solidFill>
                  </a:tcPr>
                </a:tc>
              </a:tr>
            </a:tbl>
          </a:graphicData>
        </a:graphic>
      </p:graphicFrame>
      <p:sp>
        <p:nvSpPr>
          <p:cNvPr id="5" name="Metric definitions"/>
          <p:cNvSpPr txBox="1"/>
          <p:nvPr/>
        </p:nvSpPr>
        <p:spPr>
          <a:xfrm>
            <a:off x="5852160" y="3977640"/>
            <a:ext cx="578815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Precision: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share of contacted customers who say yes (random outreach: 12.3%).</a:t>
            </a:r>
            <a:endParaRPr lang="en-US" sz="14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Recall: </a:t>
            </a:r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share of all interested customers the model finds.</a:t>
            </a:r>
            <a:endParaRPr lang="en-US" sz="1400" dirty="0"/>
          </a:p>
        </p:txBody>
      </p:sp>
      <p:sp>
        <p:nvSpPr>
          <p:cNvPr id="6" name="Selection card"/>
          <p:cNvSpPr/>
          <p:nvPr/>
        </p:nvSpPr>
        <p:spPr>
          <a:xfrm>
            <a:off x="548640" y="5166360"/>
            <a:ext cx="11091672" cy="1051560"/>
          </a:xfrm>
          <a:prstGeom prst="roundRect">
            <a:avLst>
              <a:gd name="adj" fmla="val 10435"/>
            </a:avLst>
          </a:prstGeom>
          <a:solidFill>
            <a:schemeClr val="bg2"/>
          </a:solidFill>
          <a:ln/>
        </p:spPr>
      </p:sp>
      <p:sp>
        <p:nvSpPr>
          <p:cNvPr id="7" name="Selection rationale"/>
          <p:cNvSpPr txBox="1"/>
          <p:nvPr/>
        </p:nvSpPr>
        <p:spPr>
          <a:xfrm>
            <a:off x="822960" y="5212080"/>
            <a:ext cx="1054303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Why Random Forest: </a:t>
            </a:r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ranking within 0.006 of the best, highest precision (about 2.7x better than random outreach), and it contacts roughly half as many customers as Logistic Regression. Treat it as a ranking tool: about 1 in 3 flagged customers will accept.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What drives the predictions</a:t>
            </a:r>
            <a:endParaRPr lang="en-US" sz="3400" dirty="0"/>
          </a:p>
        </p:txBody>
      </p:sp>
      <p:graphicFrame>
        <p:nvGraphicFramePr>
          <p:cNvPr id="3" name="Chart 0" descr="Horizontal bar chart of top six features by SHAP importance, led by already-insured status"/>
          <p:cNvGraphicFramePr/>
          <p:nvPr/>
        </p:nvGraphicFramePr>
        <p:xfrm>
          <a:off x="548640" y="1417320"/>
          <a:ext cx="6583680" cy="45720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Driver 1 icon circle"/>
          <p:cNvSpPr/>
          <p:nvPr/>
        </p:nvSpPr>
        <p:spPr>
          <a:xfrm>
            <a:off x="7498080" y="160020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5" name="Driver 1 icon" descr="Driver 1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9530" y="1771650"/>
            <a:ext cx="342900" cy="342900"/>
          </a:xfrm>
          <a:prstGeom prst="rect">
            <a:avLst/>
          </a:prstGeom>
        </p:spPr>
      </p:pic>
      <p:sp>
        <p:nvSpPr>
          <p:cNvPr id="6" name="Driver 1 heading"/>
          <p:cNvSpPr txBox="1"/>
          <p:nvPr/>
        </p:nvSpPr>
        <p:spPr>
          <a:xfrm>
            <a:off x="8366760" y="1554480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Cover status leads</a:t>
            </a:r>
            <a:endParaRPr lang="en-US" sz="1800" dirty="0"/>
          </a:p>
        </p:txBody>
      </p:sp>
      <p:sp>
        <p:nvSpPr>
          <p:cNvPr id="7" name="Driver 1 text"/>
          <p:cNvSpPr txBox="1"/>
          <p:nvPr/>
        </p:nvSpPr>
        <p:spPr>
          <a:xfrm>
            <a:off x="8366760" y="196596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Whether a customer is already insured matters most, then damage history.</a:t>
            </a:r>
            <a:endParaRPr lang="en-US" sz="1400" dirty="0"/>
          </a:p>
        </p:txBody>
      </p:sp>
      <p:sp>
        <p:nvSpPr>
          <p:cNvPr id="8" name="Driver 2 icon circle"/>
          <p:cNvSpPr/>
          <p:nvPr/>
        </p:nvSpPr>
        <p:spPr>
          <a:xfrm>
            <a:off x="7498080" y="306324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9" name="Driver 2 icon" descr="Driver 2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530" y="3234690"/>
            <a:ext cx="342900" cy="342900"/>
          </a:xfrm>
          <a:prstGeom prst="rect">
            <a:avLst/>
          </a:prstGeom>
        </p:spPr>
      </p:pic>
      <p:sp>
        <p:nvSpPr>
          <p:cNvPr id="10" name="Driver 2 heading"/>
          <p:cNvSpPr txBox="1"/>
          <p:nvPr/>
        </p:nvSpPr>
        <p:spPr>
          <a:xfrm>
            <a:off x="8366760" y="3017520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Age counts, spread thin</a:t>
            </a:r>
            <a:endParaRPr lang="en-US" sz="1800" dirty="0"/>
          </a:p>
        </p:txBody>
      </p:sp>
      <p:sp>
        <p:nvSpPr>
          <p:cNvPr id="11" name="Driver 2 text"/>
          <p:cNvSpPr txBox="1"/>
          <p:nvPr/>
        </p:nvSpPr>
        <p:spPr>
          <a:xfrm>
            <a:off x="8366760" y="342900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Age is encoded in several columns, so its credit is shared between them.</a:t>
            </a:r>
            <a:endParaRPr lang="en-US" sz="1400" dirty="0"/>
          </a:p>
        </p:txBody>
      </p:sp>
      <p:sp>
        <p:nvSpPr>
          <p:cNvPr id="12" name="Driver 3 icon circle"/>
          <p:cNvSpPr/>
          <p:nvPr/>
        </p:nvSpPr>
        <p:spPr>
          <a:xfrm>
            <a:off x="7498080" y="4526280"/>
            <a:ext cx="685800" cy="685800"/>
          </a:xfrm>
          <a:prstGeom prst="ellipse">
            <a:avLst/>
          </a:prstGeom>
          <a:solidFill>
            <a:schemeClr val="accent1"/>
          </a:solidFill>
          <a:ln/>
        </p:spPr>
      </p:sp>
      <p:pic>
        <p:nvPicPr>
          <p:cNvPr id="13" name="Driver 3 icon" descr="Driver 3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69530" y="4697730"/>
            <a:ext cx="342900" cy="342900"/>
          </a:xfrm>
          <a:prstGeom prst="rect">
            <a:avLst/>
          </a:prstGeom>
        </p:spPr>
      </p:pic>
      <p:sp>
        <p:nvSpPr>
          <p:cNvPr id="14" name="Driver 3 heading"/>
          <p:cNvSpPr txBox="1"/>
          <p:nvPr/>
        </p:nvSpPr>
        <p:spPr>
          <a:xfrm>
            <a:off x="8366760" y="4480560"/>
            <a:ext cx="32735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2"/>
                </a:solidFill>
              </a:rPr>
              <a:t>Premium and tenure add little</a:t>
            </a:r>
            <a:endParaRPr lang="en-US" sz="1800" dirty="0"/>
          </a:p>
        </p:txBody>
      </p:sp>
      <p:sp>
        <p:nvSpPr>
          <p:cNvPr id="15" name="Driver 3 text"/>
          <p:cNvSpPr txBox="1"/>
          <p:nvPr/>
        </p:nvSpPr>
        <p:spPr>
          <a:xfrm>
            <a:off x="8366760" y="4892040"/>
            <a:ext cx="327355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Annual premium, time as a customer and licence status have little effect.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1" type="title" hasCustomPrompt="1"/>
          </p:nvPr>
        </p:nvSpPr>
        <p:spPr>
          <a:xfrm>
            <a:off x="548640" y="365760"/>
            <a:ext cx="1109167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Recommendations and next steps</a:t>
            </a:r>
            <a:endParaRPr lang="en-US" sz="3400" dirty="0"/>
          </a:p>
        </p:txBody>
      </p:sp>
      <p:sp>
        <p:nvSpPr>
          <p:cNvPr id="3" name="Panel 1"/>
          <p:cNvSpPr/>
          <p:nvPr/>
        </p:nvSpPr>
        <p:spPr>
          <a:xfrm>
            <a:off x="548640" y="150876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accent6"/>
          </a:solidFill>
          <a:ln/>
        </p:spPr>
      </p:sp>
      <p:sp>
        <p:nvSpPr>
          <p:cNvPr id="4" name="Panel 1 icon circle"/>
          <p:cNvSpPr/>
          <p:nvPr/>
        </p:nvSpPr>
        <p:spPr>
          <a:xfrm>
            <a:off x="868680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5" name="Panel 1 icon" descr="Panel 1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8700" y="1943100"/>
            <a:ext cx="320040" cy="320040"/>
          </a:xfrm>
          <a:prstGeom prst="rect">
            <a:avLst/>
          </a:prstGeom>
        </p:spPr>
      </p:pic>
      <p:sp>
        <p:nvSpPr>
          <p:cNvPr id="6" name="Panel 1 heading"/>
          <p:cNvSpPr txBox="1"/>
          <p:nvPr/>
        </p:nvSpPr>
        <p:spPr>
          <a:xfrm>
            <a:off x="1691640" y="1783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Recommendations</a:t>
            </a:r>
            <a:endParaRPr lang="en-US" sz="2400" dirty="0"/>
          </a:p>
        </p:txBody>
      </p:sp>
      <p:sp>
        <p:nvSpPr>
          <p:cNvPr id="7" name="Panel 1 list"/>
          <p:cNvSpPr txBox="1"/>
          <p:nvPr/>
        </p:nvSpPr>
        <p:spPr>
          <a:xfrm>
            <a:off x="914400" y="26974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Prioritise uninsured customers with prior vehicle damage.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De-prioritise already-insured customers (0.1% say yes).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Tailor offers by age: 30-59 convert best, under-30s least.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Compare sales channels within the same age groups before shifting volume.</a:t>
            </a:r>
            <a:endParaRPr lang="en-US" sz="1800" dirty="0"/>
          </a:p>
        </p:txBody>
      </p:sp>
      <p:sp>
        <p:nvSpPr>
          <p:cNvPr id="8" name="Panel 2"/>
          <p:cNvSpPr/>
          <p:nvPr/>
        </p:nvSpPr>
        <p:spPr>
          <a:xfrm>
            <a:off x="6245352" y="1508760"/>
            <a:ext cx="5394960" cy="4480560"/>
          </a:xfrm>
          <a:prstGeom prst="roundRect">
            <a:avLst>
              <a:gd name="adj" fmla="val 2449"/>
            </a:avLst>
          </a:prstGeom>
          <a:solidFill>
            <a:schemeClr val="accent6"/>
          </a:solidFill>
          <a:ln/>
        </p:spPr>
      </p:sp>
      <p:sp>
        <p:nvSpPr>
          <p:cNvPr id="9" name="Panel 2 icon circle"/>
          <p:cNvSpPr/>
          <p:nvPr/>
        </p:nvSpPr>
        <p:spPr>
          <a:xfrm>
            <a:off x="6565392" y="1783080"/>
            <a:ext cx="640080" cy="640080"/>
          </a:xfrm>
          <a:prstGeom prst="ellipse">
            <a:avLst/>
          </a:prstGeom>
          <a:solidFill>
            <a:schemeClr val="accent2"/>
          </a:solidFill>
          <a:ln/>
        </p:spPr>
      </p:sp>
      <p:pic>
        <p:nvPicPr>
          <p:cNvPr id="10" name="Panel 2 icon" descr="Panel 2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5412" y="1943100"/>
            <a:ext cx="320040" cy="320040"/>
          </a:xfrm>
          <a:prstGeom prst="rect">
            <a:avLst/>
          </a:prstGeom>
        </p:spPr>
      </p:pic>
      <p:sp>
        <p:nvSpPr>
          <p:cNvPr id="11" name="Panel 2 heading"/>
          <p:cNvSpPr txBox="1"/>
          <p:nvPr/>
        </p:nvSpPr>
        <p:spPr>
          <a:xfrm>
            <a:off x="7388352" y="1783080"/>
            <a:ext cx="3931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Next steps</a:t>
            </a:r>
            <a:endParaRPr lang="en-US" sz="2400" dirty="0"/>
          </a:p>
        </p:txBody>
      </p:sp>
      <p:sp>
        <p:nvSpPr>
          <p:cNvPr id="12" name="Panel 2 list"/>
          <p:cNvSpPr txBox="1"/>
          <p:nvPr/>
        </p:nvSpPr>
        <p:spPr>
          <a:xfrm>
            <a:off x="6611112" y="2697480"/>
            <a:ext cx="4663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Deploy the Random Forest to produce a ranked propensity-to-buy list.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Set the contact cut-off from outreach cost versus value of a sale.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Test gradient-boosted models for further accuracy gains.</a:t>
            </a:r>
            <a:endParaRPr lang="en-US" sz="18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800" dirty="0">
                <a:solidFill>
                  <a:schemeClr val="bg1"/>
                </a:solidFill>
              </a:rPr>
              <a:t>Retrain regularly as new responses arrive.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91672" y="640080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nsurance Insights">
  <a:themeElements>
    <a:clrScheme name="Insurance Insights">
      <a:dk1>
        <a:srgbClr val="1B2A2F"/>
      </a:dk1>
      <a:lt1>
        <a:srgbClr val="FFFFFF"/>
      </a:lt1>
      <a:dk2>
        <a:srgbClr val="0B3C49"/>
      </a:dk2>
      <a:lt2>
        <a:srgbClr val="EAF2F2"/>
      </a:lt2>
      <a:accent1>
        <a:srgbClr val="0B7A75"/>
      </a:accent1>
      <a:accent2>
        <a:srgbClr val="F2A541"/>
      </a:accent2>
      <a:accent3>
        <a:srgbClr val="C8553D"/>
      </a:accent3>
      <a:accent4>
        <a:srgbClr val="7FB5B0"/>
      </a:accent4>
      <a:accent5>
        <a:srgbClr val="8A9BA0"/>
      </a:accent5>
      <a:accent6>
        <a:srgbClr val="14505C"/>
      </a:accent6>
      <a:hlink>
        <a:srgbClr val="0B7A75"/>
      </a:hlink>
      <a:folHlink>
        <a:srgbClr val="7FB5B0"/>
      </a:folHlink>
    </a:clrScheme>
    <a:fontScheme name="Insurance Insights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Insurance Cross-Sell Response Model: Shareholder Briefing</dc:title>
  <dc:subject>PptxGenJS Presentation</dc:subject>
  <dc:creator>Data Science Team</dc:creator>
  <cp:lastModifiedBy>Data Science Team</cp:lastModifiedBy>
  <cp:revision>1</cp:revision>
  <dcterms:created xsi:type="dcterms:W3CDTF">2026-10-11T15:13:42Z</dcterms:created>
  <dcterms:modified xsi:type="dcterms:W3CDTF">2026-10-11T15:13:42Z</dcterms:modified>
</cp:coreProperties>
</file>